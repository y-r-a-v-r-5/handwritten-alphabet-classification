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8288000" cy="10287000"/>
  <p:notesSz cx="6858000" cy="9144000"/>
  <p:embeddedFontLst>
    <p:embeddedFont>
      <p:font typeface="Arimo" panose="020B0604020202020204" charset="0"/>
      <p:regular r:id="rId38"/>
    </p:embeddedFont>
    <p:embeddedFont>
      <p:font typeface="Canva Sans Bold" panose="020B0604020202020204" charset="0"/>
      <p:regular r:id="rId39"/>
    </p:embeddedFont>
    <p:embeddedFont>
      <p:font typeface="Roboto" panose="02000000000000000000" pitchFamily="2" charset="0"/>
      <p:regular r:id="rId40"/>
    </p:embeddedFont>
    <p:embeddedFont>
      <p:font typeface="Roboto Bold" panose="02000000000000000000" charset="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3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1028700"/>
            <a:ext cx="7902775" cy="8229600"/>
          </a:xfrm>
          <a:custGeom>
            <a:avLst/>
            <a:gdLst/>
            <a:ahLst/>
            <a:cxnLst/>
            <a:rect l="l" t="t" r="r" b="b"/>
            <a:pathLst>
              <a:path w="7902775" h="8229600">
                <a:moveTo>
                  <a:pt x="0" y="0"/>
                </a:moveTo>
                <a:lnTo>
                  <a:pt x="7902775" y="0"/>
                </a:lnTo>
                <a:lnTo>
                  <a:pt x="790277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59" t="-21056" b="-1549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23925"/>
            <a:ext cx="7738456" cy="2526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6"/>
              </a:lnSpc>
              <a:spcBef>
                <a:spcPct val="0"/>
              </a:spcBef>
            </a:pPr>
            <a:r>
              <a:rPr lang="en-US" sz="4797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Handwritten Alphabet  Recognition: A Deep Learning Approach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105205"/>
            <a:ext cx="7873480" cy="103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6"/>
              </a:lnSpc>
              <a:spcBef>
                <a:spcPct val="0"/>
              </a:spcBef>
            </a:pPr>
            <a:r>
              <a:rPr lang="en-US" sz="2997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Utilizing CNNs, RNNs, and Hybrids for accurate character identification.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65440" y="7834869"/>
            <a:ext cx="3801716" cy="1423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4"/>
              </a:lnSpc>
            </a:pPr>
            <a:r>
              <a:rPr lang="en-US" sz="2702" b="1" u="sng">
                <a:solidFill>
                  <a:srgbClr val="4F6E93"/>
                </a:solidFill>
                <a:latin typeface="Roboto Bold"/>
                <a:ea typeface="Roboto Bold"/>
                <a:cs typeface="Roboto Bold"/>
                <a:sym typeface="Roboto Bold"/>
              </a:rPr>
              <a:t>Team Member:</a:t>
            </a:r>
          </a:p>
          <a:p>
            <a:pPr algn="ctr">
              <a:lnSpc>
                <a:spcPts val="3784"/>
              </a:lnSpc>
            </a:pPr>
            <a:endParaRPr lang="en-US" sz="2702" b="1" u="sng">
              <a:solidFill>
                <a:srgbClr val="4F6E93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ctr">
              <a:lnSpc>
                <a:spcPts val="3784"/>
              </a:lnSpc>
            </a:pPr>
            <a:r>
              <a:rPr lang="en-US" sz="2702" b="1">
                <a:solidFill>
                  <a:srgbClr val="0F2657"/>
                </a:solidFill>
                <a:latin typeface="Roboto Bold"/>
                <a:ea typeface="Roboto Bold"/>
                <a:cs typeface="Roboto Bold"/>
                <a:sym typeface="Roboto Bold"/>
              </a:rPr>
              <a:t>Adithya Vardhan Reddy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10042"/>
            <a:ext cx="18288000" cy="11161277"/>
          </a:xfrm>
          <a:custGeom>
            <a:avLst/>
            <a:gdLst/>
            <a:ahLst/>
            <a:cxnLst/>
            <a:rect l="l" t="t" r="r" b="b"/>
            <a:pathLst>
              <a:path w="18288000" h="11161277">
                <a:moveTo>
                  <a:pt x="0" y="0"/>
                </a:moveTo>
                <a:lnTo>
                  <a:pt x="18288000" y="0"/>
                </a:lnTo>
                <a:lnTo>
                  <a:pt x="18288000" y="11161277"/>
                </a:lnTo>
                <a:lnTo>
                  <a:pt x="0" y="11161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55371" b="-5537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13366" y="1992715"/>
            <a:ext cx="3348395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931893"/>
            <a:ext cx="16230600" cy="4179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290" lvl="1" indent="-302145" algn="l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Handwritten Alphabet Recognition is a crucial task in AI-driven document processing, accessibility tools, and automated grading systems.</a:t>
            </a:r>
          </a:p>
          <a:p>
            <a:pPr marL="604290" lvl="1" indent="-302145" algn="l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Traditional OCR methods struggle with the high variability in human handwriting styles, leading to misclassification.</a:t>
            </a:r>
          </a:p>
          <a:p>
            <a:pPr marL="604290" lvl="1" indent="-302145" algn="l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Deep Learning techniques, particularly Convolutional Neural Networks (CNNs) and Recurrent Neural Networks (RNNs), offer a data-driven approach to improve accuracy.</a:t>
            </a:r>
          </a:p>
          <a:p>
            <a:pPr marL="604290" lvl="1" indent="-302145" algn="l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project aims to develop a high-precision AI model capable of recognizing handwritten English alphabets (A-Z, a-z) with robust generalization across different writing styles.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10042"/>
            <a:ext cx="18288000" cy="11161277"/>
          </a:xfrm>
          <a:custGeom>
            <a:avLst/>
            <a:gdLst/>
            <a:ahLst/>
            <a:cxnLst/>
            <a:rect l="l" t="t" r="r" b="b"/>
            <a:pathLst>
              <a:path w="18288000" h="11161277">
                <a:moveTo>
                  <a:pt x="0" y="0"/>
                </a:moveTo>
                <a:lnTo>
                  <a:pt x="18288000" y="0"/>
                </a:lnTo>
                <a:lnTo>
                  <a:pt x="18288000" y="11161277"/>
                </a:lnTo>
                <a:lnTo>
                  <a:pt x="0" y="11161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55371" b="-5537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20118" y="1992715"/>
            <a:ext cx="3056682" cy="798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Motivation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729841"/>
            <a:ext cx="16230600" cy="4179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290" lvl="1" indent="-302145" algn="l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 address the limitations of traditional OCR methods in accurately recognizing handwritten alphabets due to variability in writing styles.</a:t>
            </a:r>
          </a:p>
          <a:p>
            <a:pPr marL="604290" lvl="1" indent="-302145" algn="l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Deep Learning models can learn complex patterns and variations in handwriting, offering a superior alternative.</a:t>
            </a:r>
          </a:p>
          <a:p>
            <a:pPr marL="604290" lvl="1" indent="-302145" algn="l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Exploring CNNs, RNNs, and hybrid models can push the boundaries of handwriting recognition technology.</a:t>
            </a:r>
          </a:p>
          <a:p>
            <a:pPr marL="604290" lvl="1" indent="-302145" algn="l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 develop a robust deep learning model that can generalize well across different handwriting styles, improving accuracy and reliability in applications such 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10042"/>
            <a:ext cx="18288000" cy="11161277"/>
          </a:xfrm>
          <a:custGeom>
            <a:avLst/>
            <a:gdLst/>
            <a:ahLst/>
            <a:cxnLst/>
            <a:rect l="l" t="t" r="r" b="b"/>
            <a:pathLst>
              <a:path w="18288000" h="11161277">
                <a:moveTo>
                  <a:pt x="0" y="0"/>
                </a:moveTo>
                <a:lnTo>
                  <a:pt x="18288000" y="0"/>
                </a:lnTo>
                <a:lnTo>
                  <a:pt x="18288000" y="11161277"/>
                </a:lnTo>
                <a:lnTo>
                  <a:pt x="0" y="11161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55371" b="-5537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43334" y="1992715"/>
            <a:ext cx="3185865" cy="798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473344"/>
            <a:ext cx="8115300" cy="467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Major Objectives: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Develop a high-accuracy deep learning model for handwritten alphabet recognition (A-Z, a-z).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Ensure robustness against handwriting variations in size, slant, and style.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Implement transfer learning &amp; ensemble methods for improved model generalization.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Deploy the model in a real-time inference system for practical use cases.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3625744"/>
            <a:ext cx="8115300" cy="467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Minor Objectives: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Collect and preprocess handwritten alphabets to create a diverse dataset.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Tune hyperparameters and apply regularization techniques (Dropout, BatchNorm).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 accuracy, precision, recall, and F1-score to compare models.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Implement Grad-CAM to understand model decisions.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10042"/>
            <a:ext cx="18288000" cy="11161277"/>
          </a:xfrm>
          <a:custGeom>
            <a:avLst/>
            <a:gdLst/>
            <a:ahLst/>
            <a:cxnLst/>
            <a:rect l="l" t="t" r="r" b="b"/>
            <a:pathLst>
              <a:path w="18288000" h="11161277">
                <a:moveTo>
                  <a:pt x="0" y="0"/>
                </a:moveTo>
                <a:lnTo>
                  <a:pt x="18288000" y="0"/>
                </a:lnTo>
                <a:lnTo>
                  <a:pt x="18288000" y="11161277"/>
                </a:lnTo>
                <a:lnTo>
                  <a:pt x="0" y="11161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55371" b="-5537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5048250"/>
            <a:ext cx="16230600" cy="260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290" lvl="1" indent="-302145" algn="l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vast variability in handwriting styles, influenced by individual differences and writing tools, makes accurate recognition difficult.</a:t>
            </a:r>
          </a:p>
          <a:p>
            <a:pPr marL="604290" lvl="1" indent="-302145" algn="l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Misclassification affects document digitization, accessibility, and automated form processing.</a:t>
            </a:r>
          </a:p>
          <a:p>
            <a:pPr marL="604290" lvl="1" indent="-302145" algn="l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Traditional OCR struggles to generalize across different handwriting styles, reducing reliability.</a:t>
            </a:r>
          </a:p>
          <a:p>
            <a:pPr marL="604290" lvl="1" indent="-302145" algn="l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Achieving high accuracy and robustness requires data-driven learning approaches.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5361" y="2081781"/>
            <a:ext cx="5454092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10042"/>
            <a:ext cx="18288000" cy="11161277"/>
          </a:xfrm>
          <a:custGeom>
            <a:avLst/>
            <a:gdLst/>
            <a:ahLst/>
            <a:cxnLst/>
            <a:rect l="l" t="t" r="r" b="b"/>
            <a:pathLst>
              <a:path w="18288000" h="11161277">
                <a:moveTo>
                  <a:pt x="0" y="0"/>
                </a:moveTo>
                <a:lnTo>
                  <a:pt x="18288000" y="0"/>
                </a:lnTo>
                <a:lnTo>
                  <a:pt x="18288000" y="11161277"/>
                </a:lnTo>
                <a:lnTo>
                  <a:pt x="0" y="11161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55371" b="-5537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691802"/>
            <a:ext cx="16230600" cy="639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5153" lvl="1" indent="-302576" algn="l">
              <a:lnSpc>
                <a:spcPts val="4204"/>
              </a:lnSpc>
              <a:buFont typeface="Arial"/>
              <a:buChar char="•"/>
            </a:pPr>
            <a:r>
              <a:rPr lang="en-US" sz="28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Deep Learning techniques offer a powerful, data-driven approach to overcome these challenges, enabling the development of robust and accurate handwriting recognition systems.</a:t>
            </a:r>
          </a:p>
          <a:p>
            <a:pPr marL="605153" lvl="1" indent="-302576" algn="l">
              <a:lnSpc>
                <a:spcPts val="4204"/>
              </a:lnSpc>
              <a:buFont typeface="Arial"/>
              <a:buChar char="•"/>
            </a:pPr>
            <a:r>
              <a:rPr lang="en-US" sz="28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Implement a Deep Learning-based approach using Convolutional Neural Networks (CNNs) and Recurrent Neural Networks (RNNs) for handwritten alphabet recognition.</a:t>
            </a:r>
          </a:p>
          <a:p>
            <a:pPr marL="605153" lvl="1" indent="-302576" algn="l">
              <a:lnSpc>
                <a:spcPts val="4204"/>
              </a:lnSpc>
              <a:buFont typeface="Arial"/>
              <a:buChar char="•"/>
            </a:pPr>
            <a:r>
              <a:rPr lang="en-US" sz="28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Leverage transfer learning and ensemble methods to enhance model accuracy and generalization across different handwriting styles.</a:t>
            </a:r>
          </a:p>
          <a:p>
            <a:pPr marL="605153" lvl="1" indent="-302576" algn="l">
              <a:lnSpc>
                <a:spcPts val="4204"/>
              </a:lnSpc>
              <a:buFont typeface="Arial"/>
              <a:buChar char="•"/>
            </a:pPr>
            <a:r>
              <a:rPr lang="en-US" sz="28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Apply data preprocessing and augmentation techniques to handle variations in handwriting, improving model robustness.</a:t>
            </a:r>
          </a:p>
          <a:p>
            <a:pPr marL="605153" lvl="1" indent="-302576" algn="l">
              <a:lnSpc>
                <a:spcPts val="4204"/>
              </a:lnSpc>
              <a:buFont typeface="Arial"/>
              <a:buChar char="•"/>
            </a:pPr>
            <a:r>
              <a:rPr lang="en-US" sz="28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Conduct extensive performance evaluation using accuracy, precision, recall, and F1-score to ensure reliable classification.</a:t>
            </a:r>
          </a:p>
          <a:p>
            <a:pPr marL="605153" lvl="1" indent="-302576" algn="l">
              <a:lnSpc>
                <a:spcPts val="4204"/>
              </a:lnSpc>
              <a:buFont typeface="Arial"/>
              <a:buChar char="•"/>
            </a:pPr>
            <a:r>
              <a:rPr lang="en-US" sz="28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Deploy the trained model into a real-time inference system for practical applications such as OCR, automated grading, and accessibility tools.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96694" y="1121231"/>
            <a:ext cx="5542306" cy="84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4"/>
              </a:lnSpc>
            </a:pPr>
            <a:r>
              <a:rPr lang="en-US" sz="4802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Suggested 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67438" b="-612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88497" y="2005041"/>
            <a:ext cx="12749068" cy="7432329"/>
          </a:xfrm>
          <a:custGeom>
            <a:avLst/>
            <a:gdLst/>
            <a:ahLst/>
            <a:cxnLst/>
            <a:rect l="l" t="t" r="r" b="b"/>
            <a:pathLst>
              <a:path w="12749068" h="7432329">
                <a:moveTo>
                  <a:pt x="0" y="0"/>
                </a:moveTo>
                <a:lnTo>
                  <a:pt x="12749068" y="0"/>
                </a:lnTo>
                <a:lnTo>
                  <a:pt x="12749068" y="7432329"/>
                </a:lnTo>
                <a:lnTo>
                  <a:pt x="0" y="7432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713" b="-671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96694" y="1121231"/>
            <a:ext cx="6286738" cy="88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4"/>
              </a:lnSpc>
            </a:pPr>
            <a:r>
              <a:rPr lang="en-US" sz="4802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Methodology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67438" b="-612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96694" y="1121231"/>
            <a:ext cx="5085106" cy="84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4"/>
              </a:lnSpc>
            </a:pPr>
            <a:r>
              <a:rPr lang="en-US" sz="4802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Dataset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237233"/>
            <a:ext cx="16230600" cy="1560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 Handwritten Dataset created using MS Paint to ensure diversity in handwriting styles.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Contains uppercase (A-Z) and lowercase (a-z) English alphabets, covering 52 classes.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Images saved in PNG format to maintain quality and consistency.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038725"/>
            <a:ext cx="9084611" cy="266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5153" lvl="1" indent="-302576" algn="l">
              <a:lnSpc>
                <a:spcPts val="4204"/>
              </a:lnSpc>
              <a:buFont typeface="Arial"/>
              <a:buChar char="•"/>
            </a:pPr>
            <a:r>
              <a:rPr lang="en-US" sz="28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Preprocessing:</a:t>
            </a:r>
          </a:p>
          <a:p>
            <a:pPr marL="605153" lvl="1" indent="-302576" algn="l">
              <a:lnSpc>
                <a:spcPts val="4204"/>
              </a:lnSpc>
              <a:buAutoNum type="arabicPeriod"/>
            </a:pPr>
            <a:r>
              <a:rPr lang="en-US" sz="28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Grayscale Conversion – Removes color information.</a:t>
            </a:r>
          </a:p>
          <a:p>
            <a:pPr marL="605153" lvl="1" indent="-302576" algn="l">
              <a:lnSpc>
                <a:spcPts val="4204"/>
              </a:lnSpc>
              <a:buAutoNum type="arabicPeriod"/>
            </a:pPr>
            <a:r>
              <a:rPr lang="en-US" sz="28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Resizing – Standardizes all images for model.</a:t>
            </a:r>
          </a:p>
          <a:p>
            <a:pPr marL="605153" lvl="1" indent="-302576" algn="l">
              <a:lnSpc>
                <a:spcPts val="4204"/>
              </a:lnSpc>
              <a:buAutoNum type="arabicPeriod"/>
            </a:pPr>
            <a:r>
              <a:rPr lang="en-US" sz="28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Normalization – Scales pixel values between 0 and 1 for efficient learning.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13311" y="5038725"/>
            <a:ext cx="7145989" cy="266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5153" lvl="1" indent="-302576" algn="l">
              <a:lnSpc>
                <a:spcPts val="4204"/>
              </a:lnSpc>
              <a:buFont typeface="Arial"/>
              <a:buChar char="•"/>
            </a:pPr>
            <a:r>
              <a:rPr lang="en-US" sz="28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Augmentation Techniques Applied:</a:t>
            </a:r>
          </a:p>
          <a:p>
            <a:pPr marL="605153" lvl="1" indent="-302576" algn="l">
              <a:lnSpc>
                <a:spcPts val="4204"/>
              </a:lnSpc>
              <a:buAutoNum type="arabicPeriod"/>
            </a:pPr>
            <a:r>
              <a:rPr lang="en-US" sz="28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Rotation – Handles slanted writing styles.</a:t>
            </a:r>
          </a:p>
          <a:p>
            <a:pPr marL="605153" lvl="1" indent="-302576" algn="l">
              <a:lnSpc>
                <a:spcPts val="4204"/>
              </a:lnSpc>
              <a:buAutoNum type="arabicPeriod"/>
            </a:pPr>
            <a:r>
              <a:rPr lang="en-US" sz="28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Translation &amp; Scaling – Mimics real-world handwriting variations.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941833"/>
            <a:ext cx="16230600" cy="531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5153" lvl="1" indent="-302576" algn="l">
              <a:lnSpc>
                <a:spcPts val="4204"/>
              </a:lnSpc>
              <a:buFont typeface="Arial"/>
              <a:buChar char="•"/>
            </a:pPr>
            <a:r>
              <a:rPr lang="en-US" sz="28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Dataset Split:70% Training | 15% Validation | 15% Testing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67438" b="-612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96694" y="1121231"/>
            <a:ext cx="5008906" cy="84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4"/>
              </a:lnSpc>
            </a:pPr>
            <a:r>
              <a:rPr lang="en-US" sz="4802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Dataset Overview</a:t>
            </a:r>
          </a:p>
        </p:txBody>
      </p:sp>
      <p:sp>
        <p:nvSpPr>
          <p:cNvPr id="4" name="Freeform 4"/>
          <p:cNvSpPr/>
          <p:nvPr/>
        </p:nvSpPr>
        <p:spPr>
          <a:xfrm>
            <a:off x="1109069" y="3302407"/>
            <a:ext cx="8034931" cy="5955893"/>
          </a:xfrm>
          <a:custGeom>
            <a:avLst/>
            <a:gdLst/>
            <a:ahLst/>
            <a:cxnLst/>
            <a:rect l="l" t="t" r="r" b="b"/>
            <a:pathLst>
              <a:path w="8034931" h="5955893">
                <a:moveTo>
                  <a:pt x="0" y="0"/>
                </a:moveTo>
                <a:lnTo>
                  <a:pt x="8034931" y="0"/>
                </a:lnTo>
                <a:lnTo>
                  <a:pt x="8034931" y="5955893"/>
                </a:lnTo>
                <a:lnTo>
                  <a:pt x="0" y="5955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98406" y="3302407"/>
            <a:ext cx="7960894" cy="5970671"/>
          </a:xfrm>
          <a:custGeom>
            <a:avLst/>
            <a:gdLst/>
            <a:ahLst/>
            <a:cxnLst/>
            <a:rect l="l" t="t" r="r" b="b"/>
            <a:pathLst>
              <a:path w="7960894" h="5970671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75936" b="-5271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691802"/>
            <a:ext cx="16230600" cy="1064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5153" lvl="1" indent="-302576" algn="l">
              <a:lnSpc>
                <a:spcPts val="4204"/>
              </a:lnSpc>
              <a:buFont typeface="Arial"/>
              <a:buChar char="•"/>
            </a:pPr>
            <a:r>
              <a:rPr lang="en-US" sz="28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Implement CNNs, RNNs, and hybrid models to extract spatial and sequential features from handwritten alphabets.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96694" y="1121231"/>
            <a:ext cx="7831455" cy="88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4"/>
              </a:lnSpc>
            </a:pPr>
            <a:r>
              <a:rPr lang="en-US" sz="4802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Neural Network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194044"/>
            <a:ext cx="5381625" cy="297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CNN Models: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LeNet-5: Lightweight, efficient for small-scale classification.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VGG-16: A deeper network leveraging small filters for enhanced feature learning.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38900" y="4194044"/>
            <a:ext cx="5381625" cy="297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RNN Models: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LSTM: Captures long-term dependencies in sequential handwriting patterns.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GRU: A computationally efficient alternative to LSTM.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77675" y="4194044"/>
            <a:ext cx="5381625" cy="347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Hybrid Models (CNN + RNN):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LeNet5-GRU: Uses LeNet-5 for spatial feature extraction and GRU for sequence modeling.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VGG16-GRU: Combines pre-trained VGG-16 with GRU for advanced feature learning.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104374"/>
            <a:ext cx="10976901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Input: Handwritten character images (64×64 pixels, grayscale).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Output: 52-class classification (A-Z, a-z) using Softmax activation.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75936" b="-527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32477" y="2141603"/>
            <a:ext cx="13396135" cy="7116697"/>
          </a:xfrm>
          <a:custGeom>
            <a:avLst/>
            <a:gdLst/>
            <a:ahLst/>
            <a:cxnLst/>
            <a:rect l="l" t="t" r="r" b="b"/>
            <a:pathLst>
              <a:path w="13396135" h="7116697">
                <a:moveTo>
                  <a:pt x="0" y="0"/>
                </a:moveTo>
                <a:lnTo>
                  <a:pt x="13396135" y="0"/>
                </a:lnTo>
                <a:lnTo>
                  <a:pt x="13396135" y="7116697"/>
                </a:lnTo>
                <a:lnTo>
                  <a:pt x="0" y="7116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96694" y="1121231"/>
            <a:ext cx="7831455" cy="88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4"/>
              </a:lnSpc>
            </a:pPr>
            <a:r>
              <a:rPr lang="en-US" sz="4802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Neural Network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75936" b="-5271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691802"/>
            <a:ext cx="16230600" cy="1064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5153" lvl="1" indent="-302576" algn="l">
              <a:lnSpc>
                <a:spcPts val="4204"/>
              </a:lnSpc>
              <a:buFont typeface="Arial"/>
              <a:buChar char="•"/>
            </a:pPr>
            <a:r>
              <a:rPr lang="en-US" sz="28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Preprocessing: Grayscale conversion, normalization, augmentation (rotation, scaling, translation).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96694" y="1121231"/>
            <a:ext cx="8590306" cy="84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4"/>
              </a:lnSpc>
            </a:pPr>
            <a:r>
              <a:rPr lang="en-US" sz="4802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Model Training &amp; Performance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194044"/>
            <a:ext cx="8115300" cy="149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Training Setup: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Loss Function: Categorical Cross-Entropy.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Optimizers: Adam.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4194044"/>
            <a:ext cx="8292773" cy="198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Performance Metrics: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Training &amp; Validation Loss vs. Accuracy Curves.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Confusion Matrix for error analysis.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Comparison of different models on training data.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123174"/>
            <a:ext cx="5381625" cy="149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Regularization Methods: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Dropout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Batch Normalization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67438" b="-612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028700"/>
            <a:ext cx="6254796" cy="8351581"/>
          </a:xfrm>
          <a:custGeom>
            <a:avLst/>
            <a:gdLst/>
            <a:ahLst/>
            <a:cxnLst/>
            <a:rect l="l" t="t" r="r" b="b"/>
            <a:pathLst>
              <a:path w="6254796" h="8351581">
                <a:moveTo>
                  <a:pt x="0" y="0"/>
                </a:moveTo>
                <a:lnTo>
                  <a:pt x="6254796" y="0"/>
                </a:lnTo>
                <a:lnTo>
                  <a:pt x="6254796" y="8351581"/>
                </a:lnTo>
                <a:lnTo>
                  <a:pt x="0" y="8351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48" b="-34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066526" y="1028700"/>
            <a:ext cx="6192774" cy="8229600"/>
          </a:xfrm>
          <a:custGeom>
            <a:avLst/>
            <a:gdLst/>
            <a:ahLst/>
            <a:cxnLst/>
            <a:rect l="l" t="t" r="r" b="b"/>
            <a:pathLst>
              <a:path w="6192774" h="8229600">
                <a:moveTo>
                  <a:pt x="0" y="0"/>
                </a:moveTo>
                <a:lnTo>
                  <a:pt x="6192774" y="0"/>
                </a:lnTo>
                <a:lnTo>
                  <a:pt x="619277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67438" b="-612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136975" y="514350"/>
            <a:ext cx="8014051" cy="9258300"/>
          </a:xfrm>
          <a:custGeom>
            <a:avLst/>
            <a:gdLst/>
            <a:ahLst/>
            <a:cxnLst/>
            <a:rect l="l" t="t" r="r" b="b"/>
            <a:pathLst>
              <a:path w="8014051" h="9258300">
                <a:moveTo>
                  <a:pt x="0" y="0"/>
                </a:moveTo>
                <a:lnTo>
                  <a:pt x="8014050" y="0"/>
                </a:lnTo>
                <a:lnTo>
                  <a:pt x="801405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7" b="-10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75936" b="-527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97813" y="2005041"/>
            <a:ext cx="6061487" cy="7253259"/>
          </a:xfrm>
          <a:custGeom>
            <a:avLst/>
            <a:gdLst/>
            <a:ahLst/>
            <a:cxnLst/>
            <a:rect l="l" t="t" r="r" b="b"/>
            <a:pathLst>
              <a:path w="6061487" h="7253259">
                <a:moveTo>
                  <a:pt x="0" y="0"/>
                </a:moveTo>
                <a:lnTo>
                  <a:pt x="6061487" y="0"/>
                </a:lnTo>
                <a:lnTo>
                  <a:pt x="6061487" y="7253259"/>
                </a:lnTo>
                <a:lnTo>
                  <a:pt x="0" y="72532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38" b="-7145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96694" y="1121231"/>
            <a:ext cx="9123706" cy="84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4"/>
              </a:lnSpc>
            </a:pPr>
            <a:r>
              <a:rPr lang="en-US" sz="4802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Model Optimization &amp; Validation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661920"/>
            <a:ext cx="5488450" cy="248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Hyperparameter Tuning: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Learning Rate, Dropout, Batch Size, Number of Layers.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Random Search for optimal settings.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422900"/>
            <a:ext cx="5381625" cy="149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Regularization Methods: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Dropout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Batch Normalization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5639" y="7174230"/>
            <a:ext cx="4023783" cy="208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Optimization Techniques: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EarlyStopping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ModelCheckpoint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ReduceLROnPlateau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75936" b="-527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553177"/>
            <a:ext cx="9713139" cy="4539506"/>
          </a:xfrm>
          <a:custGeom>
            <a:avLst/>
            <a:gdLst/>
            <a:ahLst/>
            <a:cxnLst/>
            <a:rect l="l" t="t" r="r" b="b"/>
            <a:pathLst>
              <a:path w="9713139" h="4539506">
                <a:moveTo>
                  <a:pt x="0" y="0"/>
                </a:moveTo>
                <a:lnTo>
                  <a:pt x="9713139" y="0"/>
                </a:lnTo>
                <a:lnTo>
                  <a:pt x="9713139" y="4539505"/>
                </a:lnTo>
                <a:lnTo>
                  <a:pt x="0" y="45395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567146" y="5143500"/>
            <a:ext cx="9692154" cy="4531082"/>
          </a:xfrm>
          <a:custGeom>
            <a:avLst/>
            <a:gdLst/>
            <a:ahLst/>
            <a:cxnLst/>
            <a:rect l="l" t="t" r="r" b="b"/>
            <a:pathLst>
              <a:path w="9692154" h="4531082">
                <a:moveTo>
                  <a:pt x="0" y="0"/>
                </a:moveTo>
                <a:lnTo>
                  <a:pt x="9692154" y="0"/>
                </a:lnTo>
                <a:lnTo>
                  <a:pt x="9692154" y="4531082"/>
                </a:lnTo>
                <a:lnTo>
                  <a:pt x="0" y="45310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75936" b="-527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605565"/>
            <a:ext cx="9874175" cy="4616177"/>
          </a:xfrm>
          <a:custGeom>
            <a:avLst/>
            <a:gdLst/>
            <a:ahLst/>
            <a:cxnLst/>
            <a:rect l="l" t="t" r="r" b="b"/>
            <a:pathLst>
              <a:path w="9874175" h="4616177">
                <a:moveTo>
                  <a:pt x="0" y="0"/>
                </a:moveTo>
                <a:lnTo>
                  <a:pt x="9874175" y="0"/>
                </a:lnTo>
                <a:lnTo>
                  <a:pt x="9874175" y="4616177"/>
                </a:lnTo>
                <a:lnTo>
                  <a:pt x="0" y="46161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511568" y="5296336"/>
            <a:ext cx="9747732" cy="4557065"/>
          </a:xfrm>
          <a:custGeom>
            <a:avLst/>
            <a:gdLst/>
            <a:ahLst/>
            <a:cxnLst/>
            <a:rect l="l" t="t" r="r" b="b"/>
            <a:pathLst>
              <a:path w="9747732" h="4557065">
                <a:moveTo>
                  <a:pt x="0" y="0"/>
                </a:moveTo>
                <a:lnTo>
                  <a:pt x="9747732" y="0"/>
                </a:lnTo>
                <a:lnTo>
                  <a:pt x="9747732" y="4557064"/>
                </a:lnTo>
                <a:lnTo>
                  <a:pt x="0" y="4557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75936" b="-5271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96694" y="1121231"/>
            <a:ext cx="7828306" cy="84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4"/>
              </a:lnSpc>
            </a:pPr>
            <a:r>
              <a:rPr lang="en-US" sz="4802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Model Testing &amp; Evaluation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696079"/>
            <a:ext cx="5488450" cy="198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Testing Setup: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Testing Dataset: Held-out test set (15% of data).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endParaRPr lang="en-US" sz="2799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5377684"/>
            <a:ext cx="5381625" cy="198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Prediction Analysis: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Actual vs. Predicted labels.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Confidence scores for predictions.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104374"/>
            <a:ext cx="10976901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Input: Handwritten character images (64×64 pixels, grayscale).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Output: 52-class classification (A-Z, a-z) using Softmax activation.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05601" y="2677029"/>
            <a:ext cx="5253699" cy="260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Evaluation Metrics: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Accuracy Score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Precision Score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Recall Score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F1 Score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75936" b="-527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974292" y="657709"/>
            <a:ext cx="11285008" cy="8971581"/>
          </a:xfrm>
          <a:custGeom>
            <a:avLst/>
            <a:gdLst/>
            <a:ahLst/>
            <a:cxnLst/>
            <a:rect l="l" t="t" r="r" b="b"/>
            <a:pathLst>
              <a:path w="11285008" h="8971581">
                <a:moveTo>
                  <a:pt x="0" y="0"/>
                </a:moveTo>
                <a:lnTo>
                  <a:pt x="11285008" y="0"/>
                </a:lnTo>
                <a:lnTo>
                  <a:pt x="11285008" y="8971582"/>
                </a:lnTo>
                <a:lnTo>
                  <a:pt x="0" y="8971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168195"/>
            <a:ext cx="4096412" cy="179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4"/>
              </a:lnSpc>
            </a:pPr>
            <a:r>
              <a:rPr lang="en-US" sz="4802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Model Testing </a:t>
            </a:r>
          </a:p>
          <a:p>
            <a:pPr algn="ctr">
              <a:lnSpc>
                <a:spcPts val="7204"/>
              </a:lnSpc>
            </a:pPr>
            <a:r>
              <a:rPr lang="en-US" sz="4802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(Non-tuned)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75936" b="-5271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168195"/>
            <a:ext cx="4096412" cy="179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4"/>
              </a:lnSpc>
            </a:pPr>
            <a:r>
              <a:rPr lang="en-US" sz="4802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Model Testing </a:t>
            </a:r>
          </a:p>
          <a:p>
            <a:pPr algn="ctr">
              <a:lnSpc>
                <a:spcPts val="7204"/>
              </a:lnSpc>
            </a:pPr>
            <a:r>
              <a:rPr lang="en-US" sz="4802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(Non-tuned)</a:t>
            </a:r>
          </a:p>
        </p:txBody>
      </p:sp>
      <p:sp>
        <p:nvSpPr>
          <p:cNvPr id="4" name="Freeform 4"/>
          <p:cNvSpPr/>
          <p:nvPr/>
        </p:nvSpPr>
        <p:spPr>
          <a:xfrm>
            <a:off x="5831910" y="629681"/>
            <a:ext cx="11427390" cy="9027638"/>
          </a:xfrm>
          <a:custGeom>
            <a:avLst/>
            <a:gdLst/>
            <a:ahLst/>
            <a:cxnLst/>
            <a:rect l="l" t="t" r="r" b="b"/>
            <a:pathLst>
              <a:path w="11427390" h="9027638">
                <a:moveTo>
                  <a:pt x="0" y="0"/>
                </a:moveTo>
                <a:lnTo>
                  <a:pt x="11427390" y="0"/>
                </a:lnTo>
                <a:lnTo>
                  <a:pt x="11427390" y="9027638"/>
                </a:lnTo>
                <a:lnTo>
                  <a:pt x="0" y="90276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75936" b="-527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125112" y="1465060"/>
            <a:ext cx="12878566" cy="7356881"/>
          </a:xfrm>
          <a:custGeom>
            <a:avLst/>
            <a:gdLst/>
            <a:ahLst/>
            <a:cxnLst/>
            <a:rect l="l" t="t" r="r" b="b"/>
            <a:pathLst>
              <a:path w="12878566" h="7356881">
                <a:moveTo>
                  <a:pt x="0" y="0"/>
                </a:moveTo>
                <a:lnTo>
                  <a:pt x="12878565" y="0"/>
                </a:lnTo>
                <a:lnTo>
                  <a:pt x="12878565" y="7356880"/>
                </a:lnTo>
                <a:lnTo>
                  <a:pt x="0" y="7356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168195"/>
            <a:ext cx="4096412" cy="179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4"/>
              </a:lnSpc>
            </a:pPr>
            <a:r>
              <a:rPr lang="en-US" sz="4802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Model Testing </a:t>
            </a:r>
          </a:p>
          <a:p>
            <a:pPr algn="ctr">
              <a:lnSpc>
                <a:spcPts val="7204"/>
              </a:lnSpc>
            </a:pPr>
            <a:r>
              <a:rPr lang="en-US" sz="4802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(Tuned)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75936" b="-527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125112" y="1433280"/>
            <a:ext cx="12821496" cy="7420441"/>
          </a:xfrm>
          <a:custGeom>
            <a:avLst/>
            <a:gdLst/>
            <a:ahLst/>
            <a:cxnLst/>
            <a:rect l="l" t="t" r="r" b="b"/>
            <a:pathLst>
              <a:path w="12821496" h="7420441">
                <a:moveTo>
                  <a:pt x="0" y="0"/>
                </a:moveTo>
                <a:lnTo>
                  <a:pt x="12821495" y="0"/>
                </a:lnTo>
                <a:lnTo>
                  <a:pt x="12821495" y="7420440"/>
                </a:lnTo>
                <a:lnTo>
                  <a:pt x="0" y="74204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168195"/>
            <a:ext cx="4096412" cy="179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4"/>
              </a:lnSpc>
            </a:pPr>
            <a:r>
              <a:rPr lang="en-US" sz="4802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Model Testing </a:t>
            </a:r>
          </a:p>
          <a:p>
            <a:pPr algn="ctr">
              <a:lnSpc>
                <a:spcPts val="7204"/>
              </a:lnSpc>
            </a:pPr>
            <a:r>
              <a:rPr lang="en-US" sz="4802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(Tuned)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67438" b="-612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71228" y="1164878"/>
            <a:ext cx="5354638" cy="88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4"/>
              </a:lnSpc>
              <a:spcBef>
                <a:spcPct val="0"/>
              </a:spcBef>
            </a:pPr>
            <a:r>
              <a:rPr lang="en-US" sz="4802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Model Comparision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345233"/>
            <a:ext cx="7160972" cy="260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Models: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Tuned Models (4): LeNet-5, VGG-16, LeNet5 ~ GRU, VGG16 ~ GRU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Non-Tuned Models (6): LeNet-5, VGG-16, LeNet5 ~ GRU, VGG16 ~ GRU, LSTM, GRU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612094"/>
            <a:ext cx="7160972" cy="1560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Performance Metrics: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Training Loss vs. Accuracy Curves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Validation Loss vs. Accuracy Curves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98328" y="6612094"/>
            <a:ext cx="7160972" cy="260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Evaluation Metrics: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F1 Score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Accuracy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Recall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Precision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67438" b="-612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23827" y="265667"/>
            <a:ext cx="15618821" cy="9742240"/>
          </a:xfrm>
          <a:custGeom>
            <a:avLst/>
            <a:gdLst/>
            <a:ahLst/>
            <a:cxnLst/>
            <a:rect l="l" t="t" r="r" b="b"/>
            <a:pathLst>
              <a:path w="15618821" h="9742240">
                <a:moveTo>
                  <a:pt x="0" y="0"/>
                </a:moveTo>
                <a:lnTo>
                  <a:pt x="15618822" y="0"/>
                </a:lnTo>
                <a:lnTo>
                  <a:pt x="15618822" y="9742240"/>
                </a:lnTo>
                <a:lnTo>
                  <a:pt x="0" y="97422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67438" b="-612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18301" y="413307"/>
            <a:ext cx="15251399" cy="9460387"/>
          </a:xfrm>
          <a:custGeom>
            <a:avLst/>
            <a:gdLst/>
            <a:ahLst/>
            <a:cxnLst/>
            <a:rect l="l" t="t" r="r" b="b"/>
            <a:pathLst>
              <a:path w="15251399" h="9460387">
                <a:moveTo>
                  <a:pt x="0" y="0"/>
                </a:moveTo>
                <a:lnTo>
                  <a:pt x="15251398" y="0"/>
                </a:lnTo>
                <a:lnTo>
                  <a:pt x="15251398" y="9460386"/>
                </a:lnTo>
                <a:lnTo>
                  <a:pt x="0" y="9460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6" b="-7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67438" b="-612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862262"/>
            <a:ext cx="8115300" cy="260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Deployment Strategy: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Web-based Streamlit App for real-time handwriting recognition.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Backend powered by TensorFlow/Keras for inference.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71637" y="1164878"/>
            <a:ext cx="5491163" cy="84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4"/>
              </a:lnSpc>
              <a:spcBef>
                <a:spcPct val="0"/>
              </a:spcBef>
            </a:pPr>
            <a:r>
              <a:rPr lang="en-US" sz="4802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Model Deployment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2852737"/>
            <a:ext cx="8115300" cy="2131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4"/>
              </a:lnSpc>
              <a:spcBef>
                <a:spcPct val="0"/>
              </a:spcBef>
            </a:pPr>
            <a:r>
              <a:rPr lang="en-US" sz="2802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User Interface Features:</a:t>
            </a:r>
          </a:p>
          <a:p>
            <a:pPr marL="605153" lvl="1" indent="-302576" algn="l">
              <a:lnSpc>
                <a:spcPts val="4204"/>
              </a:lnSpc>
              <a:buFont typeface="Arial"/>
              <a:buChar char="•"/>
            </a:pPr>
            <a:r>
              <a:rPr lang="en-US" sz="28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Upload handwritten image for recognition.</a:t>
            </a:r>
          </a:p>
          <a:p>
            <a:pPr marL="605153" lvl="1" indent="-302576" algn="l">
              <a:lnSpc>
                <a:spcPts val="4204"/>
              </a:lnSpc>
              <a:buFont typeface="Arial"/>
              <a:buChar char="•"/>
            </a:pPr>
            <a:r>
              <a:rPr lang="en-US" sz="28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Displays predicted character with confidence score.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67438" b="-612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30651" y="2684120"/>
            <a:ext cx="15026698" cy="6574180"/>
          </a:xfrm>
          <a:custGeom>
            <a:avLst/>
            <a:gdLst/>
            <a:ahLst/>
            <a:cxnLst/>
            <a:rect l="l" t="t" r="r" b="b"/>
            <a:pathLst>
              <a:path w="15026698" h="6574180">
                <a:moveTo>
                  <a:pt x="0" y="0"/>
                </a:moveTo>
                <a:lnTo>
                  <a:pt x="15026698" y="0"/>
                </a:lnTo>
                <a:lnTo>
                  <a:pt x="15026698" y="6574180"/>
                </a:lnTo>
                <a:lnTo>
                  <a:pt x="0" y="6574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71637" y="1164878"/>
            <a:ext cx="5414963" cy="84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4"/>
              </a:lnSpc>
              <a:spcBef>
                <a:spcPct val="0"/>
              </a:spcBef>
            </a:pPr>
            <a:r>
              <a:rPr lang="en-US" sz="4802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Model Deployment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67438" b="-612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798489"/>
            <a:ext cx="16230600" cy="6735699"/>
          </a:xfrm>
          <a:custGeom>
            <a:avLst/>
            <a:gdLst/>
            <a:ahLst/>
            <a:cxnLst/>
            <a:rect l="l" t="t" r="r" b="b"/>
            <a:pathLst>
              <a:path w="16230600" h="6735699">
                <a:moveTo>
                  <a:pt x="0" y="0"/>
                </a:moveTo>
                <a:lnTo>
                  <a:pt x="16230600" y="0"/>
                </a:lnTo>
                <a:lnTo>
                  <a:pt x="16230600" y="6735699"/>
                </a:lnTo>
                <a:lnTo>
                  <a:pt x="0" y="67356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71637" y="1164878"/>
            <a:ext cx="5338763" cy="84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4"/>
              </a:lnSpc>
              <a:spcBef>
                <a:spcPct val="0"/>
              </a:spcBef>
            </a:pPr>
            <a:r>
              <a:rPr lang="en-US" sz="4802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Model Deployment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67438" b="-612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74671" y="413661"/>
            <a:ext cx="11086793" cy="5044491"/>
          </a:xfrm>
          <a:custGeom>
            <a:avLst/>
            <a:gdLst/>
            <a:ahLst/>
            <a:cxnLst/>
            <a:rect l="l" t="t" r="r" b="b"/>
            <a:pathLst>
              <a:path w="11086793" h="5044491">
                <a:moveTo>
                  <a:pt x="0" y="0"/>
                </a:moveTo>
                <a:lnTo>
                  <a:pt x="11086793" y="0"/>
                </a:lnTo>
                <a:lnTo>
                  <a:pt x="11086793" y="5044491"/>
                </a:lnTo>
                <a:lnTo>
                  <a:pt x="0" y="5044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773369" y="6027565"/>
            <a:ext cx="12485931" cy="3230735"/>
          </a:xfrm>
          <a:custGeom>
            <a:avLst/>
            <a:gdLst/>
            <a:ahLst/>
            <a:cxnLst/>
            <a:rect l="l" t="t" r="r" b="b"/>
            <a:pathLst>
              <a:path w="12485931" h="3230735">
                <a:moveTo>
                  <a:pt x="0" y="0"/>
                </a:moveTo>
                <a:lnTo>
                  <a:pt x="12485931" y="0"/>
                </a:lnTo>
                <a:lnTo>
                  <a:pt x="12485931" y="3230735"/>
                </a:lnTo>
                <a:lnTo>
                  <a:pt x="0" y="32307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67438" b="-612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08684" y="876300"/>
            <a:ext cx="1910915" cy="84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4"/>
              </a:lnSpc>
              <a:spcBef>
                <a:spcPct val="0"/>
              </a:spcBef>
            </a:pPr>
            <a:r>
              <a:rPr lang="en-US" sz="4802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535555"/>
            <a:ext cx="16230600" cy="260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Model Performance Summary: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tuned VGG-16 model demonstrated the highest performance across all metrics (Accuracy, Precision, Recall, F1-score).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Hyperparameter tuning consistently improved model performance across all architectures.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VGG16-GRU model was very dependent on being tuned.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849302"/>
            <a:ext cx="16230600" cy="260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Deployment Success: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All 10 models (tuned and non-tuned) were successfully deployed using Streamlit.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deployment enables real-time testing and practical application of the developed models.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Streamlit application provides an accessible interface for users to interact with the handwriting recognition system.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67438" b="-612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08685" y="2206787"/>
            <a:ext cx="13270629" cy="7166140"/>
          </a:xfrm>
          <a:custGeom>
            <a:avLst/>
            <a:gdLst/>
            <a:ahLst/>
            <a:cxnLst/>
            <a:rect l="l" t="t" r="r" b="b"/>
            <a:pathLst>
              <a:path w="13270629" h="7166140">
                <a:moveTo>
                  <a:pt x="0" y="0"/>
                </a:moveTo>
                <a:lnTo>
                  <a:pt x="13270630" y="0"/>
                </a:lnTo>
                <a:lnTo>
                  <a:pt x="13270630" y="7166140"/>
                </a:lnTo>
                <a:lnTo>
                  <a:pt x="0" y="7166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08684" y="876300"/>
            <a:ext cx="1834715" cy="84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4"/>
              </a:lnSpc>
              <a:spcBef>
                <a:spcPct val="0"/>
              </a:spcBef>
            </a:pPr>
            <a:r>
              <a:rPr lang="en-US" sz="4802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Result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67438" b="-612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77088" y="876300"/>
            <a:ext cx="6544936" cy="88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4"/>
              </a:lnSpc>
              <a:spcBef>
                <a:spcPct val="0"/>
              </a:spcBef>
            </a:pPr>
            <a:r>
              <a:rPr lang="en-US" sz="4802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Challenges &amp; Learnings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5597" y="3529965"/>
            <a:ext cx="6320499" cy="3131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Challenges:</a:t>
            </a:r>
          </a:p>
          <a:p>
            <a:pPr marL="604519" lvl="1" indent="-302260" algn="r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Handling Diverse Handwriting Styles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Dataset Imbalance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Computational Constraints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Hyperparameter Tuning Complexity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3529965"/>
            <a:ext cx="8115300" cy="3655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Learning:</a:t>
            </a:r>
          </a:p>
          <a:p>
            <a:pPr marL="604519" lvl="1" indent="-302260" algn="just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High-Quality Data is More Important Than Model Complexity</a:t>
            </a:r>
          </a:p>
          <a:p>
            <a:pPr marL="604519" lvl="1" indent="-302260" algn="just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Optimized Learning Rate &amp; Hyperparameter Tuning Made a Big Difference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Transfer Learning is a Time-Saver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Real-World Testing is Essential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67438" b="-612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40346" y="1071967"/>
            <a:ext cx="3353594" cy="88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4"/>
              </a:lnSpc>
              <a:spcBef>
                <a:spcPct val="0"/>
              </a:spcBef>
            </a:pPr>
            <a:r>
              <a:rPr lang="en-US" sz="4802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Future Work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791902"/>
            <a:ext cx="8407662" cy="260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Multilingual Handwriting Recognition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Handwritten Word &amp; Sentence Recognition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Self-Learning &amp; Continual Model Improvement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Large-Scale Deployment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Expanding Dataset for Better Generalization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67438" b="-612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82890" y="1071967"/>
            <a:ext cx="3068505" cy="88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4"/>
              </a:lnSpc>
              <a:spcBef>
                <a:spcPct val="0"/>
              </a:spcBef>
            </a:pPr>
            <a:r>
              <a:rPr lang="en-US" sz="4802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489226"/>
            <a:ext cx="16230600" cy="4703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project successfully developed a deep learning model capable of accurately recognizing handwritten English alphabets.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Hyperparameter tuning proved crucial in achieving optimal model performance.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tuned VGG-16 model demonstrated exceptional accuracy, making it a promising candidate for real-world applications.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technology has the potential to revolutionize various fields, including education, document processing, and accessibility.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Future work will focus on exploring more advanced techniques and expanding the scope of the model.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67438" b="-612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55902" y="1071967"/>
            <a:ext cx="3349497" cy="84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4"/>
              </a:lnSpc>
              <a:spcBef>
                <a:spcPct val="0"/>
              </a:spcBef>
            </a:pPr>
            <a:r>
              <a:rPr lang="en-US" sz="4802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References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021598"/>
            <a:ext cx="16230600" cy="260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Publicly Available Handwriting Datasets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EMNIST Dataset – Extended MNIST dataset containing handwritten letters &amp; digits.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NIST Special Database 19 – Large-scale U.S. government dataset for handwritten character recognition.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Kaggle - English Handwritten Characters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353633"/>
            <a:ext cx="16230600" cy="1560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Official Documentation &amp; Frameworks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TensorFlow Documentation – Guides on CNNs, RNNs, Transfer Learning &amp; Model Deployment.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Keras Documentation – Deep Learning APIs for building &amp; training models.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161793"/>
            <a:ext cx="16230600" cy="208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Online Courses &amp; Video Resources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Krish Naik (YouTube Channel) – Deep Learning, Computer Vision, and Model Optimization Tutorials.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Sentdex (YouTube Channel) – Python Machine Learning &amp; Deep Learning for OCR.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86863" y="0"/>
            <a:ext cx="13800692" cy="10300638"/>
          </a:xfrm>
          <a:custGeom>
            <a:avLst/>
            <a:gdLst/>
            <a:ahLst/>
            <a:cxnLst/>
            <a:rect l="l" t="t" r="r" b="b"/>
            <a:pathLst>
              <a:path w="13800692" h="10300638">
                <a:moveTo>
                  <a:pt x="0" y="0"/>
                </a:moveTo>
                <a:lnTo>
                  <a:pt x="13800692" y="0"/>
                </a:lnTo>
                <a:lnTo>
                  <a:pt x="13800692" y="10300638"/>
                </a:lnTo>
                <a:lnTo>
                  <a:pt x="0" y="10300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36160" b="-3616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57250"/>
            <a:ext cx="11052479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&amp; Answer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1406</Words>
  <Application>Microsoft Office PowerPoint</Application>
  <PresentationFormat>Custom</PresentationFormat>
  <Paragraphs>213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Roboto Bold</vt:lpstr>
      <vt:lpstr>Arimo</vt:lpstr>
      <vt:lpstr>Canva Sans Bold</vt:lpstr>
      <vt:lpstr>Roboto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Handwritten Alphabet Recognition Using Deep Learning</dc:title>
  <cp:lastModifiedBy>Yen Reddy Adithya Vardhan Reddy</cp:lastModifiedBy>
  <cp:revision>2</cp:revision>
  <dcterms:created xsi:type="dcterms:W3CDTF">2006-08-16T00:00:00Z</dcterms:created>
  <dcterms:modified xsi:type="dcterms:W3CDTF">2025-03-07T15:34:55Z</dcterms:modified>
  <dc:identifier>DAGg9Wey5fc</dc:identifier>
</cp:coreProperties>
</file>